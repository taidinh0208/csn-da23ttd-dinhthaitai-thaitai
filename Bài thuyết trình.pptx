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56" r:id="rId2"/>
    <p:sldId id="257" r:id="rId3"/>
    <p:sldId id="258" r:id="rId4"/>
    <p:sldId id="259" r:id="rId5"/>
    <p:sldId id="260" r:id="rId6"/>
    <p:sldId id="261" r:id="rId7"/>
    <p:sldId id="286" r:id="rId8"/>
    <p:sldId id="287" r:id="rId9"/>
    <p:sldId id="294" r:id="rId10"/>
    <p:sldId id="263" r:id="rId11"/>
    <p:sldId id="288" r:id="rId12"/>
    <p:sldId id="289" r:id="rId13"/>
    <p:sldId id="290" r:id="rId14"/>
    <p:sldId id="291" r:id="rId15"/>
    <p:sldId id="292" r:id="rId16"/>
    <p:sldId id="262" r:id="rId17"/>
    <p:sldId id="295" r:id="rId18"/>
    <p:sldId id="296" r:id="rId19"/>
    <p:sldId id="272" r:id="rId20"/>
    <p:sldId id="298" r:id="rId21"/>
    <p:sldId id="299" r:id="rId22"/>
    <p:sldId id="274" r:id="rId23"/>
    <p:sldId id="275" r:id="rId24"/>
    <p:sldId id="282" r:id="rId25"/>
    <p:sldId id="300" r:id="rId26"/>
    <p:sldId id="301" r:id="rId27"/>
    <p:sldId id="285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9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8892527-F7FD-0BCA-1137-57127BE2272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5A39E4-AF5E-1CBB-9964-AE83C415C68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C89A1A-0A9D-4DB9-B436-864AC6BE2F7D}" type="datetime1">
              <a:rPr lang="vi-VN" smtClean="0"/>
              <a:t>05/01/2026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AD17E3-3512-6121-19EA-A1B66C1C298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878FCC-BB63-FF7A-DB86-DEFC7A4147F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049ADF-C462-4451-9A76-AB9B0CF160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597978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5A1469-E0F4-432A-9344-ADA138032A60}" type="datetime1">
              <a:rPr lang="vi-VN" smtClean="0"/>
              <a:t>05/01/2026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0F91F3-B0E1-4A7F-A8AC-7B6326F5B7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201295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EBA06F24-19FF-4D9D-9678-B215142BE2E2}" type="datetime1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B8BD8-5673-467A-B323-BECBB8B90C4B}" type="datetime1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DF2EB-F590-4D1E-AEEA-9E9A4ACF88A7}" type="datetime1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F1C3E-611E-44AE-B26F-94952EA8324D}" type="datetime1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94BB5-0F6B-47DC-99AA-68D8A5C2D8BB}" type="datetime1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76D51-BFB9-4B8C-8844-4A0F4BB486B9}" type="datetime1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6CE10-DC27-43FA-9CDE-3539A0993451}" type="datetime1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3F0F9-338C-4F75-8FAF-6D4441BBE965}" type="datetime1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83AFE-3120-4ACC-B5D0-58B120E1245C}" type="datetime1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236D4-3DB5-46F0-908F-7E4BCBD50D8D}" type="datetime1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095E1-46FE-44C2-8265-F66122DF9363}" type="datetime1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AA9D0-DE3E-4B0B-8533-BC101B5CF045}" type="datetime1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CD013-64F4-4AA8-A48C-DCF174779762}" type="datetime1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069E5-DABD-439A-9F1C-BF56B98FE296}" type="datetime1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6D62A-041D-4FEA-B418-A5EAD317685C}" type="datetime1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F1FA1-7372-448A-879E-29B9BEA95777}" type="datetime1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7CAAFB-199F-49A9-8CA9-0CE773789EED}" type="datetime1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CB737A8-911B-4F81-96C6-00C8EF96AEF2}" type="datetime1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BDCFF-2745-2B1B-DAF4-D78FA4279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7561" y="1769806"/>
            <a:ext cx="6956460" cy="1659194"/>
          </a:xfrm>
        </p:spPr>
        <p:txBody>
          <a:bodyPr/>
          <a:lstStyle/>
          <a:p>
            <a:r>
              <a:rPr lang="vi-VN" sz="4400">
                <a:latin typeface="+mn-lt"/>
              </a:rPr>
              <a:t>Bài thuyết trình </a:t>
            </a:r>
            <a:br>
              <a:rPr lang="vi-VN" sz="4400">
                <a:latin typeface="+mn-lt"/>
              </a:rPr>
            </a:br>
            <a:r>
              <a:rPr lang="vi-VN" sz="4400">
                <a:latin typeface="+mn-lt"/>
              </a:rPr>
              <a:t>Cơ Sở Ngành</a:t>
            </a:r>
            <a:endParaRPr lang="en-US" sz="440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70643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04902-EB3C-C30D-5D85-A76D9A353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vi-VN" sz="4000">
                <a:latin typeface="+mn-lt"/>
              </a:rPr>
              <a:t>Đề tài: Xây dựng ứng dụng hỗ trợ dịch vụ rửa xe</a:t>
            </a:r>
            <a:br>
              <a:rPr lang="en-US"/>
            </a:b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9A549-7D0E-BF63-AB5E-9750B4EDD0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vi-VN" b="1">
                <a:latin typeface="Times New Roman" panose="02020603050405020304" pitchFamily="18" charset="0"/>
                <a:cs typeface="Times New Roman" panose="02020603050405020304" pitchFamily="18" charset="0"/>
              </a:rPr>
              <a:t>Giảng viên hướng dẫn 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						</a:t>
            </a:r>
            <a:r>
              <a:rPr lang="vi-VN" b="1">
                <a:latin typeface="Times New Roman" panose="02020603050405020304" pitchFamily="18" charset="0"/>
                <a:cs typeface="Times New Roman" panose="02020603050405020304" pitchFamily="18" charset="0"/>
              </a:rPr>
              <a:t>Sinh viên thực hiện </a:t>
            </a:r>
          </a:p>
          <a:p>
            <a:pPr marL="0" indent="0" algn="just">
              <a:buNone/>
            </a:pP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ThS. Trần Văn Nam					   	      Họ Tên:Đinh Thái Tài</a:t>
            </a:r>
          </a:p>
          <a:p>
            <a:pPr marL="0" indent="0" algn="just">
              <a:buNone/>
            </a:pP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												MSSV:110123170</a:t>
            </a:r>
          </a:p>
          <a:p>
            <a:pPr marL="0" indent="0" algn="just">
              <a:buNone/>
            </a:pP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												Lớp: DA23TTD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5305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898AABC-6177-A395-2B4C-028C53F27C87}"/>
              </a:ext>
            </a:extLst>
          </p:cNvPr>
          <p:cNvSpPr txBox="1"/>
          <p:nvPr/>
        </p:nvSpPr>
        <p:spPr>
          <a:xfrm>
            <a:off x="2015613" y="1096134"/>
            <a:ext cx="8475407" cy="4247317"/>
          </a:xfrm>
          <a:prstGeom prst="rect">
            <a:avLst/>
          </a:prstGeom>
          <a:noFill/>
        </p:spPr>
        <p:txBody>
          <a:bodyPr wrap="square" numCol="2" rtlCol="0" anchor="ctr">
            <a:spAutoFit/>
          </a:bodyPr>
          <a:lstStyle/>
          <a:p>
            <a:r>
              <a:rPr lang="vi-VN" sz="2000" b="1" cap="all"/>
              <a:t>Nội dung báo cáo</a:t>
            </a:r>
          </a:p>
          <a:p>
            <a:pPr>
              <a:lnSpc>
                <a:spcPct val="250000"/>
              </a:lnSpc>
            </a:pPr>
            <a:r>
              <a:rPr lang="vi-VN" sz="2000"/>
              <a:t> Chương 1: Tổng quan đề tài</a:t>
            </a:r>
          </a:p>
          <a:p>
            <a:pPr>
              <a:lnSpc>
                <a:spcPct val="250000"/>
              </a:lnSpc>
            </a:pPr>
            <a:r>
              <a:rPr lang="vi-VN" sz="2000"/>
              <a:t> Chương 2: Nghiên cứu lý thuyết</a:t>
            </a:r>
          </a:p>
          <a:p>
            <a:pPr>
              <a:lnSpc>
                <a:spcPct val="250000"/>
              </a:lnSpc>
            </a:pPr>
            <a:r>
              <a:rPr lang="vi-VN" sz="2000"/>
              <a:t> Chương 3: Hiện thực hóa nghiên cứu</a:t>
            </a:r>
          </a:p>
          <a:p>
            <a:pPr>
              <a:lnSpc>
                <a:spcPct val="250000"/>
              </a:lnSpc>
            </a:pPr>
            <a:r>
              <a:rPr lang="vi-VN" sz="2000"/>
              <a:t> Chương 4: Kết quả nghiên cứu</a:t>
            </a:r>
          </a:p>
          <a:p>
            <a:pPr>
              <a:lnSpc>
                <a:spcPct val="250000"/>
              </a:lnSpc>
            </a:pPr>
            <a:r>
              <a:rPr lang="vi-VN" sz="2000"/>
              <a:t> Chương 5: Kết luận &amp; Phát triển</a:t>
            </a:r>
          </a:p>
        </p:txBody>
      </p:sp>
    </p:spTree>
    <p:extLst>
      <p:ext uri="{BB962C8B-B14F-4D97-AF65-F5344CB8AC3E}">
        <p14:creationId xmlns:p14="http://schemas.microsoft.com/office/powerpoint/2010/main" val="1947073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33A2366-342F-7607-7059-4686A73A2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vi-VN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CHƯƠNG 1: TỔNG QUAN ĐỀ TÀI</a:t>
            </a:r>
            <a:endParaRPr lang="en-US" sz="3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1999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09A8028E-4C59-0DC7-5309-858B8E78E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845575"/>
            <a:ext cx="9609668" cy="860400"/>
          </a:xfrm>
        </p:spPr>
        <p:txBody>
          <a:bodyPr/>
          <a:lstStyle/>
          <a:p>
            <a:r>
              <a:rPr lang="vi-VN">
                <a:latin typeface="+mn-lt"/>
              </a:rPr>
              <a:t>LÝ DO CHỌN ĐỀ TÀI</a:t>
            </a:r>
            <a:endParaRPr lang="en-US">
              <a:latin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F3EDF6-1FCF-6343-2B7F-5D68C06AD51A}"/>
              </a:ext>
            </a:extLst>
          </p:cNvPr>
          <p:cNvSpPr txBox="1"/>
          <p:nvPr/>
        </p:nvSpPr>
        <p:spPr>
          <a:xfrm>
            <a:off x="1291166" y="2364398"/>
            <a:ext cx="9609668" cy="17507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sz="2000"/>
              <a:t>- </a:t>
            </a:r>
            <a:r>
              <a:rPr lang="vi-VN"/>
              <a:t>Sự phát triển của xã hội kéo theo nhu cầu chăm sóc phương tiện tại khu đô thị tăng cao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vi-VN"/>
              <a:t>- Thực trạng quản lý tại các cơ sở hiện nay: Chủ yếu vẫn làm thủ công bằng sổ tay hoặc Excel rời rạc, gây mất thời gian và dễ sai sót.</a:t>
            </a:r>
            <a:endParaRPr lang="vi-V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vi-VN"/>
              <a:t>- Sự cần thiết của việc số hóa để tối ưu hóa quy trình vận hành và nâng cao chất lượng phục vụ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698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A6397-F26F-49E0-45F9-D9374F666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307451D-05FA-2982-D29B-05CF0750E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845575"/>
            <a:ext cx="9609668" cy="860400"/>
          </a:xfrm>
        </p:spPr>
        <p:txBody>
          <a:bodyPr/>
          <a:lstStyle/>
          <a:p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Mục đích nghiên cứu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9F6901-9924-2473-2AF1-9FE535972327}"/>
              </a:ext>
            </a:extLst>
          </p:cNvPr>
          <p:cNvSpPr txBox="1"/>
          <p:nvPr/>
        </p:nvSpPr>
        <p:spPr>
          <a:xfrm>
            <a:off x="1291166" y="2551549"/>
            <a:ext cx="9609668" cy="1296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/>
              <a:t>-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Xây dựng hệ thống giúp quản lý đặt lịch, khách hàng, dịch vụ và doanh thu một cách hệ 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Hỗ trợ khách hàng đặt lịch trực tuyến, chủ động chọn khung giờ và gói dịch vụ.</a:t>
            </a:r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Cung cấp công cụ báo cáo, thống kê giúp chủ cửa hàng đánh giá hiệu quả kinh doanh.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368BF04-99AC-1C49-5572-3B0623BB9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859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2A6FB-F694-EC98-6BD0-32263D25D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799" y="1021100"/>
            <a:ext cx="9499603" cy="829335"/>
          </a:xfrm>
        </p:spPr>
        <p:txBody>
          <a:bodyPr/>
          <a:lstStyle/>
          <a:p>
            <a:r>
              <a:rPr lang="vi-VN"/>
              <a:t>Đối tượng và pham vi nghiên cứu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ACBBB4-68EC-07CB-DA98-3A2495574A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3799" y="2563570"/>
            <a:ext cx="9398001" cy="2794494"/>
          </a:xfrm>
        </p:spPr>
        <p:txBody>
          <a:bodyPr>
            <a:normAutofit/>
          </a:bodyPr>
          <a:lstStyle/>
          <a:p>
            <a:r>
              <a:rPr lang="vi-VN" b="1">
                <a:latin typeface="Times New Roman" panose="02020603050405020304" pitchFamily="18" charset="0"/>
                <a:cs typeface="Times New Roman" panose="02020603050405020304" pitchFamily="18" charset="0"/>
              </a:rPr>
              <a:t>Đối tượng: 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Các hoạt động hỗ trợ quản lý quy trình rửa xe, dữ liệu khách hàng và hóa đơn.</a:t>
            </a: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Phạm </a:t>
            </a:r>
            <a:r>
              <a:rPr lang="vi-VN" b="1">
                <a:latin typeface="Times New Roman" panose="02020603050405020304" pitchFamily="18" charset="0"/>
                <a:cs typeface="Times New Roman" panose="02020603050405020304" pitchFamily="18" charset="0"/>
              </a:rPr>
              <a:t>vi: 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Ứng dụng nền tảng Web hướng đến quy mô cửa hàng vừa và nhỏ, không đi sâu vào các bài toán quản lý quá phức tạp.</a:t>
            </a:r>
            <a:endParaRPr lang="vi-V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vi-VN" b="1"/>
          </a:p>
          <a:p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30307085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F013C-E34D-7FE8-3C50-1133C5B31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1166" y="1220219"/>
            <a:ext cx="9609668" cy="672749"/>
          </a:xfrm>
        </p:spPr>
        <p:txBody>
          <a:bodyPr/>
          <a:lstStyle/>
          <a:p>
            <a:r>
              <a:rPr lang="vi-VN">
                <a:latin typeface="+mn-lt"/>
              </a:rPr>
              <a:t>Khái niệm về dịch vụ rửa xe</a:t>
            </a:r>
            <a:endParaRPr lang="en-US">
              <a:latin typeface="+mn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43CFF3-CB84-9732-4E56-D74F31A011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1166" y="2597746"/>
            <a:ext cx="9609668" cy="3177411"/>
          </a:xfrm>
        </p:spPr>
        <p:txBody>
          <a:bodyPr/>
          <a:lstStyle/>
          <a:p>
            <a:r>
              <a:rPr lang="vi-VN"/>
              <a:t>- Là hoạt động làm sạch, bảo dưỡng cơ bản cho phương tiện (xe máy, ô tô) đảm bảo thẩm mỹ và an toàn.</a:t>
            </a:r>
          </a:p>
          <a:p>
            <a:r>
              <a:rPr lang="vi-VN"/>
              <a:t>- Bao gồm: Rửa cơ bản, cao cấp, vệ sinh nội thất, đánh bóng, chăm sóc định kỳ.</a:t>
            </a:r>
          </a:p>
          <a:p>
            <a:r>
              <a:rPr lang="vi-VN"/>
              <a:t>- Quy trình chuẩn: Tiếp nhận -&gt; Làm sạch -&gt; Kiểm tra chất lượng -&gt; Bàn giao.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471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623BB-B47E-4C88-7E98-409B1A381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5665CE0-7749-B5AA-B2C9-5F78C6832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vi-VN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CHƯƠNG 2: NGHIÊN CỨU LÝ THUYẾT</a:t>
            </a:r>
            <a:endParaRPr lang="en-US" sz="3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84226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B3C35-80C8-8428-35CC-8B7EDF327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9381447E-EC9F-D27F-2882-33BE7F1C2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845575"/>
            <a:ext cx="9609668" cy="860400"/>
          </a:xfrm>
        </p:spPr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Kiến trúc Client - Server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750AE2-30D9-847D-E0F3-8B075AC95B24}"/>
              </a:ext>
            </a:extLst>
          </p:cNvPr>
          <p:cNvSpPr txBox="1"/>
          <p:nvPr/>
        </p:nvSpPr>
        <p:spPr>
          <a:xfrm>
            <a:off x="1295402" y="2123768"/>
            <a:ext cx="960966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Là kiến trúc nền tảng cho ứng dụng web, giúp tách biệt phần giao diện và phần xử lý dữ liệu.</a:t>
            </a:r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vi-VN" b="1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Client: Thiết bị người dùng (PC, Smartphone) truy cập qua trình duyệt.</a:t>
            </a:r>
          </a:p>
          <a:p>
            <a:pPr>
              <a:lnSpc>
                <a:spcPct val="150000"/>
              </a:lnSpc>
            </a:pP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- Server</a:t>
            </a:r>
            <a:r>
              <a:rPr lang="vi-VN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 Tiếp nhận yêu cầu, kiểm tra tính hợp lệ và xử lý nghiệp vụ lưu trữ.</a:t>
            </a:r>
          </a:p>
          <a:p>
            <a:pPr>
              <a:lnSpc>
                <a:spcPct val="150000"/>
              </a:lnSpc>
            </a:pPr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1180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CB0B2-528B-3FE0-5D9B-1384C3A0C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1166" y="1094771"/>
            <a:ext cx="9609668" cy="860400"/>
          </a:xfrm>
        </p:spPr>
        <p:txBody>
          <a:bodyPr/>
          <a:lstStyle/>
          <a:p>
            <a:r>
              <a:rPr lang="vi-VN">
                <a:latin typeface="+mn-lt"/>
              </a:rPr>
              <a:t>Quy trình hoạt động của hệ thống</a:t>
            </a:r>
            <a:endParaRPr lang="en-US">
              <a:latin typeface="+mn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0C8169-384F-542A-7778-2CFF583E21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1166" y="2630905"/>
            <a:ext cx="9609668" cy="2823411"/>
          </a:xfrm>
        </p:spPr>
        <p:txBody>
          <a:bodyPr/>
          <a:lstStyle/>
          <a:p>
            <a:r>
              <a:rPr lang="vi-VN"/>
              <a:t>Bước 1: Người dùng truy cập trình duyệt và đăng nhập/đăng ký.</a:t>
            </a:r>
          </a:p>
          <a:p>
            <a:r>
              <a:rPr lang="vi-VN"/>
              <a:t>Bước 2: Chọn dịch vụ, nhập thông tin xe và đặt lịch.</a:t>
            </a:r>
          </a:p>
          <a:p>
            <a:r>
              <a:rPr lang="vi-VN"/>
              <a:t>Bước 3: Hệ thống lưu dữ liệu, nhân viên tiếp nhận và cập nhật trạng thái.</a:t>
            </a:r>
          </a:p>
          <a:p>
            <a:r>
              <a:rPr lang="vi-VN"/>
              <a:t>Bước 4: Hoàn thành dịch vụ, tự động tính tiền và xuất hóa đơn.</a:t>
            </a:r>
          </a:p>
          <a:p>
            <a:endParaRPr lang="vi-VN"/>
          </a:p>
          <a:p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54478EF-853C-3C34-360D-41EDFD562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Bước 4: Hoàn thành dịch vụ, tự động tính tiền và xuất hóa đơn.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25348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FDE03-6FB0-6936-15A1-7E6D5C4FF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3FA6D-A563-E2E0-9F66-52FE6E5AB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1166" y="1094771"/>
            <a:ext cx="9609668" cy="860400"/>
          </a:xfrm>
        </p:spPr>
        <p:txBody>
          <a:bodyPr/>
          <a:lstStyle/>
          <a:p>
            <a:r>
              <a:rPr lang="vi-VN">
                <a:latin typeface="+mn-lt"/>
              </a:rPr>
              <a:t>Ngôn ngữ HTML &amp; CSS</a:t>
            </a:r>
            <a:endParaRPr lang="en-US">
              <a:latin typeface="+mn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6F8E0-2FA1-84EA-40AC-A91068412B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1166" y="2630905"/>
            <a:ext cx="9609668" cy="2711116"/>
          </a:xfrm>
        </p:spPr>
        <p:txBody>
          <a:bodyPr>
            <a:norm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HTML: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Xây dựng cấu trúc trang web, biểu mẫu đặt lịch, và hiển thị thông tin bảng giá.</a:t>
            </a:r>
            <a:endParaRPr lang="vi-V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b="1">
                <a:latin typeface="Times New Roman" panose="02020603050405020304" pitchFamily="18" charset="0"/>
                <a:cs typeface="Times New Roman" panose="02020603050405020304" pitchFamily="18" charset="0"/>
              </a:rPr>
              <a:t>CSS:</a:t>
            </a:r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 Định dạng màu sắc, bố cục, tạo hiệu ứng tương tác trực quan (Hover, chuyển động)</a:t>
            </a:r>
          </a:p>
          <a:p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C7C42B0-A7BA-6411-CDA0-38FC496AF4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Bước 4: Hoàn thành dịch vụ, tự động tính tiền và xuất hóa đơn.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97598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C27C1-715B-DB96-5EAF-6BEEF06D9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6452E-4007-3FE7-3AB6-64EA8B207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1166" y="1094771"/>
            <a:ext cx="9609668" cy="860400"/>
          </a:xfrm>
        </p:spPr>
        <p:txBody>
          <a:bodyPr/>
          <a:lstStyle/>
          <a:p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Thiết kế Responsive &amp; External CSS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1ABE41-40E5-0BBC-7C54-AAD50C755C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1166" y="2630905"/>
            <a:ext cx="9609668" cy="2711116"/>
          </a:xfrm>
        </p:spPr>
        <p:txBody>
          <a:bodyPr>
            <a:normAutofit/>
          </a:bodyPr>
          <a:lstStyle/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Sử dụng External Style Sheet để đảm bảo tính nhất quán về giao diện giữa các trang.</a:t>
            </a:r>
            <a:endParaRPr lang="vi-V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Thiết kế Responsive giúp ứng dụng hiển thị tốt trên cả máy tính và thiết bị di động.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9E7A481-8C39-E010-5DBC-DD6C38833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Bước 4: Hoàn thành dịch vụ, tự động tính tiền và xuất hóa đơn.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80809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A5805-BA46-2B08-52CF-9F20275BF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AEB5F-0877-C3F7-790B-2E42A609C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1166" y="1094771"/>
            <a:ext cx="9609668" cy="860400"/>
          </a:xfrm>
        </p:spPr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JavaScript - Trái tim xử lý hệ thống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DC09C6-6559-8592-4C2E-7DA7C26A83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1166" y="2630905"/>
            <a:ext cx="9609668" cy="2711116"/>
          </a:xfrm>
        </p:spPr>
        <p:txBody>
          <a:bodyPr>
            <a:normAutofit/>
          </a:bodyPr>
          <a:lstStyle/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Đảm nhiệm xử lý logic nghiệp vụ hoàn toàn phía Client.</a:t>
            </a:r>
            <a:endParaRPr lang="vi-V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1800">
                <a:latin typeface="Times New Roman" panose="02020603050405020304" pitchFamily="18" charset="0"/>
                <a:cs typeface="Times New Roman" panose="02020603050405020304" pitchFamily="18" charset="0"/>
              </a:rPr>
              <a:t>Xác thực dữ liệu người dùng nhập vào để hạn chế sai sót trước khi lưu trữ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Kết nối HTML và CSS, cập nhật giao diện động theo thời gian thực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68E8AFB-1CD7-78DE-CDB0-5FCBBAE0D0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Bước 4: Hoàn thành dịch vụ, tự động tính tiền và xuất hóa đơn.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08245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CA1AC-019A-95D8-A33A-0F7FAE2B5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F9C50-DFA6-65E6-2F9E-0EB8F0F95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1166" y="1094771"/>
            <a:ext cx="9609668" cy="860400"/>
          </a:xfrm>
        </p:spPr>
        <p:txBody>
          <a:bodyPr/>
          <a:lstStyle/>
          <a:p>
            <a:r>
              <a:rPr lang="vi-VN">
                <a:latin typeface="+mn-lt"/>
              </a:rPr>
              <a:t>Lưu trữ với Local Storage</a:t>
            </a:r>
            <a:endParaRPr lang="en-US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3843C2-24CF-9939-D97B-EF704C2059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1166" y="2630905"/>
            <a:ext cx="9609668" cy="2711116"/>
          </a:xfrm>
        </p:spPr>
        <p:txBody>
          <a:bodyPr>
            <a:normAutofit/>
          </a:bodyPr>
          <a:lstStyle/>
          <a:p>
            <a:r>
              <a:rPr lang="vi-VN" sz="1800"/>
              <a:t>Cơ chế lưu trữ dữ liệu cục bộ dưới dạng cặp Key-Value ngay trên trình duyệt.</a:t>
            </a:r>
          </a:p>
          <a:p>
            <a:r>
              <a:rPr lang="vi-VN" sz="1800"/>
              <a:t>Lưu trữ thông tin người dùng, danh mục dịch vụ, lịch hẹn và hóa đơn mà không cần SQL.</a:t>
            </a:r>
            <a:endParaRPr lang="vi-V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7AC8ADD-9DEA-F6FB-EF8D-59C73583EB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Bước 4: Hoàn thành dịch vụ, tự động tính tiền và xuất hóa đơn.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33139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6BC65-7558-E826-43F3-F10A5D1F5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AC08232-F903-347C-36C2-9789400F9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568" y="982132"/>
            <a:ext cx="10282990" cy="1303867"/>
          </a:xfrm>
        </p:spPr>
        <p:txBody>
          <a:bodyPr>
            <a:noAutofit/>
          </a:bodyPr>
          <a:lstStyle/>
          <a:p>
            <a:r>
              <a:rPr lang="vi-VN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CHƯƠNG 3:HIỆN THỰC HÓA NGHIÊN CỨU</a:t>
            </a:r>
            <a:endParaRPr lang="en-US" sz="3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6044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4CC6C-9B87-3156-3817-89B4FDB67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193C0-EA99-747E-1AEC-D4F561273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1166" y="1094771"/>
            <a:ext cx="9609668" cy="860400"/>
          </a:xfrm>
        </p:spPr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Đặc tả yêu cầu chức năng (Khách hàng)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CF3DA8-7F2B-C13E-3832-054B98D523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1166" y="2630905"/>
            <a:ext cx="9609668" cy="2711116"/>
          </a:xfrm>
        </p:spPr>
        <p:txBody>
          <a:bodyPr>
            <a:normAutofit/>
          </a:bodyPr>
          <a:lstStyle/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Quản lý tài khoản: Đăng ký, đăng nhập và cập nhật thông tin biển số xe mặc định.</a:t>
            </a:r>
            <a:endParaRPr lang="vi-V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Đặt lịch trực tuyến: Chọn gói dịch vụ (rửa máy, vệ sinh nội thất...) và khung giờ còn trống</a:t>
            </a:r>
            <a:r>
              <a:rPr lang="vi-VN" sz="18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AD64940-76D3-7F8E-2101-50BF365EF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Bước 4: Hoàn thành dịch vụ, tự động tính tiền và xuất hóa đơn.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34636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F0805-C05C-1711-7821-3780B74EF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044A5-FD36-3EFF-C815-922199B92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1166" y="1094771"/>
            <a:ext cx="9609668" cy="860400"/>
          </a:xfrm>
        </p:spPr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Đặc tả yêu cầu chức năng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9551EC-6016-F6EB-CA9B-BC132F6F65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1166" y="2630905"/>
            <a:ext cx="9609668" cy="2711116"/>
          </a:xfrm>
        </p:spPr>
        <p:txBody>
          <a:bodyPr>
            <a:normAutofit/>
          </a:bodyPr>
          <a:lstStyle/>
          <a:p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Nhân viên: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Xem danh sách xe chờ, cập nhật trạng thái "Đang xử lý" và "Hoàn thành".</a:t>
            </a:r>
            <a:endParaRPr lang="vi-V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Đặt lịch trực tuyến: Chọn gói dịch vụ (rửa máy, vệ sinh nội thất...) và khung giờ còn trống</a:t>
            </a:r>
            <a:r>
              <a:rPr lang="vi-VN" sz="18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115090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32D27-15C4-56F6-896E-670642EDA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A339882-7506-CB1C-52B0-59037763F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vi-V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CHƯƠNG 4: KẾT QUẢ NGHIÊN CỨU</a:t>
            </a:r>
            <a:endParaRPr 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73350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D76A2-718F-8E14-BFB6-8DC3395BB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2586B-4FE5-870A-DF46-1A09FF677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1" y="800867"/>
            <a:ext cx="9609668" cy="860400"/>
          </a:xfrm>
        </p:spPr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Giao diện tổng thể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C08EE0-FB47-D98C-9560-0103163125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564" y="1661267"/>
            <a:ext cx="8564703" cy="4506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3276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45A47-FF73-7A32-8746-B1F949141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07C6F-EAF3-2FAB-23D6-74CC8A13B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1" y="800867"/>
            <a:ext cx="9609668" cy="860400"/>
          </a:xfrm>
        </p:spPr>
        <p:txBody>
          <a:bodyPr/>
          <a:lstStyle/>
          <a:p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Giao diện đăng nhập và đăng ký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037D7F-8CD1-7A98-4B22-ADB8F71B45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705" y="2015596"/>
            <a:ext cx="4963160" cy="32670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D490D38-D778-7DD4-282B-B2A6DCFBF1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9865" y="2015596"/>
            <a:ext cx="5106035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6491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45DB5-D8B5-0A47-3A7B-430FAB89D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5E0CDEEC-2990-5D6F-6430-2D6AC1BB3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469" y="812799"/>
            <a:ext cx="3606798" cy="613775"/>
          </a:xfrm>
        </p:spPr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Giao diện Đặt lịch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027FA3-2E59-9704-4A3D-EABB623460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469" y="1528176"/>
            <a:ext cx="9465422" cy="4271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3813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17D2B-06EB-5D63-E4FC-72E51B54A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02AB8D02-BC09-21DB-825B-124365E7C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845575"/>
            <a:ext cx="9609668" cy="860400"/>
          </a:xfrm>
        </p:spPr>
        <p:txBody>
          <a:bodyPr/>
          <a:lstStyle/>
          <a:p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Giao diện in hóa đơn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BDAE6D-0F0D-7B7F-BCD3-619BE37C13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2" y="1705975"/>
            <a:ext cx="7988968" cy="430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514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A7158-3D06-CC7A-0F54-4056E48DA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C373F1A-655C-0FDE-EB23-9429C84AD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vi-V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CHƯƠNG 5: KẾT LUẬN VÀ PHÁT TRIỂN</a:t>
            </a:r>
            <a:endParaRPr 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74966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FB952-5202-3EEA-A52A-E04B5E908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B6242-7D48-62D1-DF98-5BD366566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1166" y="1094771"/>
            <a:ext cx="9609668" cy="860400"/>
          </a:xfrm>
        </p:spPr>
        <p:txBody>
          <a:bodyPr/>
          <a:lstStyle/>
          <a:p>
            <a:r>
              <a:rPr lang="vi-VN">
                <a:latin typeface="+mn-lt"/>
              </a:rPr>
              <a:t>Kết luận đạt được</a:t>
            </a:r>
            <a:endParaRPr lang="en-US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B21194-3C88-053A-7418-EF9F148AB1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1166" y="2630905"/>
            <a:ext cx="9609668" cy="2711116"/>
          </a:xfrm>
        </p:spPr>
        <p:txBody>
          <a:bodyPr>
            <a:normAutofit/>
          </a:bodyPr>
          <a:lstStyle/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Đã xây dựng thành công ứng dụng web hoạt động độc lập phía Client.</a:t>
            </a:r>
            <a:endParaRPr lang="vi-V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1800">
                <a:latin typeface="Times New Roman" panose="02020603050405020304" pitchFamily="18" charset="0"/>
                <a:cs typeface="Times New Roman" panose="02020603050405020304" pitchFamily="18" charset="0"/>
              </a:rPr>
              <a:t>Giải quyết được bài toán đặt lịch và quản lý cơ bản cho cửa hàng rửa xe.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6E3DDBC-47F5-F9F7-5F5D-11EEEFE1FB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Bước 4: Hoàn thành dịch vụ, tự động tính tiền và xuất hóa đơn.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22546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44395-A576-EF10-974C-B8D223D1F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D3C14-7779-F7EB-20F1-466BAB715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1166" y="1094771"/>
            <a:ext cx="9609668" cy="860400"/>
          </a:xfrm>
        </p:spPr>
        <p:txBody>
          <a:bodyPr/>
          <a:lstStyle/>
          <a:p>
            <a:r>
              <a:rPr lang="vi-VN">
                <a:latin typeface="Times New Roman" panose="02020603050405020304" pitchFamily="18" charset="0"/>
                <a:cs typeface="Times New Roman" panose="02020603050405020304" pitchFamily="18" charset="0"/>
              </a:rPr>
              <a:t>Hướng phát triển tương lai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A9656C-C469-ABCF-ECAE-C9D07E4AD8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1166" y="2630905"/>
            <a:ext cx="9609668" cy="2711116"/>
          </a:xfrm>
        </p:spPr>
        <p:txBody>
          <a:bodyPr>
            <a:normAutofit/>
          </a:bodyPr>
          <a:lstStyle/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Xây dựng hệ thống thông báo tự động qua Email/SMS cho khách hàng.</a:t>
            </a:r>
            <a:endParaRPr lang="vi-V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vi-VN" sz="1800">
                <a:latin typeface="Times New Roman" panose="02020603050405020304" pitchFamily="18" charset="0"/>
                <a:cs typeface="Times New Roman" panose="02020603050405020304" pitchFamily="18" charset="0"/>
              </a:rPr>
              <a:t>Phát triển thêm tính năng thống kê sâu bằng biểu đồ để tối ưu hóa nhâ</a:t>
            </a:r>
          </a:p>
          <a:p>
            <a:r>
              <a:rPr lang="vi-VN" sz="1800">
                <a:latin typeface="Times New Roman" panose="02020603050405020304" pitchFamily="18" charset="0"/>
                <a:cs typeface="Times New Roman" panose="02020603050405020304" pitchFamily="18" charset="0"/>
              </a:rPr>
              <a:t>Nâng cấp lên cơ sở dữ liệu tập trung để đồng bộ dữ liệu đa nền tảng.n sự.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14461D3-C2B3-CD1F-E196-5C052821D2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Bước 4: Hoàn thành dịch vụ, tự động tính tiền và xuất hóa đơn.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85855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B58076-369A-F593-1D8A-33702026B0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2723" y="2762865"/>
            <a:ext cx="9892346" cy="2874916"/>
          </a:xfrm>
        </p:spPr>
        <p:txBody>
          <a:bodyPr>
            <a:normAutofit/>
          </a:bodyPr>
          <a:lstStyle/>
          <a:p>
            <a:pPr algn="ctr"/>
            <a:r>
              <a:rPr lang="vi-VN" sz="3200" b="1">
                <a:solidFill>
                  <a:srgbClr val="00B0F0"/>
                </a:solidFill>
              </a:rPr>
              <a:t>XIN CẢM ƠN!</a:t>
            </a:r>
          </a:p>
          <a:p>
            <a:pPr algn="ctr"/>
            <a:r>
              <a:rPr lang="vi-VN"/>
              <a:t>Quý thầy cô và các bạn đã chú ý lắng nghe phần trình bày</a:t>
            </a:r>
          </a:p>
          <a:p>
            <a:pPr algn="ctr"/>
            <a:endParaRPr lang="vi-VN"/>
          </a:p>
          <a:p>
            <a:pPr algn="ctr"/>
            <a:r>
              <a:rPr lang="vi-VN" b="1"/>
              <a:t>Rất mong nhận được sự góp ý từ Hội đồng!</a:t>
            </a:r>
          </a:p>
          <a:p>
            <a:pPr algn="ctr"/>
            <a:endParaRPr lang="vi-VN" b="1"/>
          </a:p>
          <a:p>
            <a:pPr algn="ctr"/>
            <a:r>
              <a:rPr lang="vi-VN"/>
              <a:t>Đinh Thái Tài			MSSV: 110123170</a:t>
            </a:r>
          </a:p>
          <a:p>
            <a:endParaRPr lang="en-US"/>
          </a:p>
        </p:txBody>
      </p:sp>
      <p:pic>
        <p:nvPicPr>
          <p:cNvPr id="5" name="Picture 4" descr="A blue heart in a white circle&#10;&#10;AI-generated content may be incorrect.">
            <a:extLst>
              <a:ext uri="{FF2B5EF4-FFF2-40B4-BE49-F238E27FC236}">
                <a16:creationId xmlns:a16="http://schemas.microsoft.com/office/drawing/2014/main" id="{6BA52F9B-F3BD-CE3D-6E8F-446636111B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6789" y="1103564"/>
            <a:ext cx="1524213" cy="152421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19932428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rganic">
    <a:dk1>
      <a:sysClr val="windowText" lastClr="000000"/>
    </a:dk1>
    <a:lt1>
      <a:sysClr val="window" lastClr="FFFFFF"/>
    </a:lt1>
    <a:dk2>
      <a:srgbClr val="212121"/>
    </a:dk2>
    <a:lt2>
      <a:srgbClr val="DADADA"/>
    </a:lt2>
    <a:accent1>
      <a:srgbClr val="83992A"/>
    </a:accent1>
    <a:accent2>
      <a:srgbClr val="3C9770"/>
    </a:accent2>
    <a:accent3>
      <a:srgbClr val="44709D"/>
    </a:accent3>
    <a:accent4>
      <a:srgbClr val="A23C33"/>
    </a:accent4>
    <a:accent5>
      <a:srgbClr val="D97828"/>
    </a:accent5>
    <a:accent6>
      <a:srgbClr val="DEB340"/>
    </a:accent6>
    <a:hlink>
      <a:srgbClr val="A8BF4D"/>
    </a:hlink>
    <a:folHlink>
      <a:srgbClr val="B4CA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319</TotalTime>
  <Words>1190</Words>
  <Application>Microsoft Office PowerPoint</Application>
  <PresentationFormat>Widescreen</PresentationFormat>
  <Paragraphs>85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Garamond</vt:lpstr>
      <vt:lpstr>Times New Roman</vt:lpstr>
      <vt:lpstr>Organic</vt:lpstr>
      <vt:lpstr>Bài thuyết trình  Cơ Sở Ngành</vt:lpstr>
      <vt:lpstr>Đề tài: Xây dựng ứng dụng hỗ trợ dịch vụ rửa xe </vt:lpstr>
      <vt:lpstr>PowerPoint Presentation</vt:lpstr>
      <vt:lpstr>CHƯƠNG 1: TỔNG QUAN ĐỀ TÀI</vt:lpstr>
      <vt:lpstr>LÝ DO CHỌN ĐỀ TÀI</vt:lpstr>
      <vt:lpstr>Mục đích nghiên cứu</vt:lpstr>
      <vt:lpstr>Đối tượng và pham vi nghiên cứu</vt:lpstr>
      <vt:lpstr>Khái niệm về dịch vụ rửa xe</vt:lpstr>
      <vt:lpstr>CHƯƠNG 2: NGHIÊN CỨU LÝ THUYẾT</vt:lpstr>
      <vt:lpstr>Kiến trúc Client - Server</vt:lpstr>
      <vt:lpstr>Quy trình hoạt động của hệ thống</vt:lpstr>
      <vt:lpstr>Ngôn ngữ HTML &amp; CSS</vt:lpstr>
      <vt:lpstr>Thiết kế Responsive &amp; External CSS</vt:lpstr>
      <vt:lpstr>JavaScript - Trái tim xử lý hệ thống</vt:lpstr>
      <vt:lpstr>Lưu trữ với Local Storage</vt:lpstr>
      <vt:lpstr>CHƯƠNG 3:HIỆN THỰC HÓA NGHIÊN CỨU</vt:lpstr>
      <vt:lpstr>Đặc tả yêu cầu chức năng (Khách hàng)</vt:lpstr>
      <vt:lpstr>Đặc tả yêu cầu chức năng </vt:lpstr>
      <vt:lpstr>CHƯƠNG 4: KẾT QUẢ NGHIÊN CỨU</vt:lpstr>
      <vt:lpstr>Giao diện tổng thể</vt:lpstr>
      <vt:lpstr>Giao diện đăng nhập và đăng ký</vt:lpstr>
      <vt:lpstr>Giao diện Đặt lịch</vt:lpstr>
      <vt:lpstr>Giao diện in hóa đơn</vt:lpstr>
      <vt:lpstr>CHƯƠNG 5: KẾT LUẬN VÀ PHÁT TRIỂN</vt:lpstr>
      <vt:lpstr>Kết luận đạt được</vt:lpstr>
      <vt:lpstr>Hướng phát triển tương lai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minh thu</dc:creator>
  <cp:lastModifiedBy>taidinh.02082005@gmail.com</cp:lastModifiedBy>
  <cp:revision>32</cp:revision>
  <dcterms:created xsi:type="dcterms:W3CDTF">2026-01-04T03:19:55Z</dcterms:created>
  <dcterms:modified xsi:type="dcterms:W3CDTF">2026-01-05T14:44:55Z</dcterms:modified>
</cp:coreProperties>
</file>